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6858000" type="screen4x3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1" r:id="rId1"/>
  </p:sldLayoutIdLst>
  <p:txStyles>
    <p:titleStyle/>
    <p:bodyStyle/>
    <p:otherStyle/>
  </p:txStyles>
  <p:clrMapOvr>
    <a:masterClrMapping/>
  </p:clrMapOvr>
</p:sldMaster>
</file>

<file path=ppt/slides/_rels/slide1.xml.rels><?xml version="1.0" encoding="UTF-8" standalone="yes"?><Relationships xmlns="http://schemas.openxmlformats.org/package/2006/relationships"/>
</file>

<file path=ppt/slides/_rels/slide2.xml.rels><?xml version="1.0" encoding="UTF-8" standalone="yes"?><Relationships xmlns="http://schemas.openxmlformats.org/package/2006/relationships"/>
</file>

<file path=ppt/slides/_rels/slide3.xml.rels><?xml version="1.0" encoding="UTF-8" standalone="yes"?><Relationships xmlns="http://schemas.openxmlformats.org/package/2006/relationships"/>
</file>

<file path=ppt/slides/_rels/slide4.xml.rels><?xml version="1.0" encoding="UTF-8" standalone="yes"?><Relationships xmlns="http://schemas.openxmlformats.org/package/2006/relationships"/>
</file>

<file path=ppt/slides/_rels/slide5.xml.rels><?xml version="1.0" encoding="UTF-8" standalone="yes"?><Relationships xmlns="http://schemas.openxmlformats.org/package/2006/relationships"/>
</file>

<file path=ppt/slides/_rels/slide6.xml.rels><?xml version="1.0" encoding="UTF-8" standalone="yes"?><Relationships xmlns="http://schemas.openxmlformats.org/package/2006/relationships"/>
</file>

<file path=ppt/slides/_rels/slide7.xml.rels><?xml version="1.0" encoding="UTF-8" standalone="yes"?><Relationships xmlns="http://schemas.openxmlformats.org/package/2006/relationships"/>
</file>

<file path=ppt/slides/_rels/slide8.xml.rels><?xml version="1.0" encoding="UTF-8" standalone="yes"?><Relationships xmlns="http://schemas.openxmlformats.org/package/2006/relationships"/>
</file>

<file path=ppt/slides/_rels/slide9.xml.rels><?xml version="1.0" encoding="UTF-8" standalone="yes"?><Relationships xmlns="http://schemas.openxmlformats.org/package/2006/relationships"/>
</file>

<file path=ppt/slides/_rels/slide10.xml.rels><?xml version="1.0" encoding="UTF-8" standalone="yes"?><Relationships xmlns="http://schemas.openxmlformats.org/package/2006/relationships"/>
</file>

<file path=ppt/slides/_rels/slide11.xml.rels><?xml version="1.0" encoding="UTF-8" standalone="yes"?><Relationships xmlns="http://schemas.openxmlformats.org/package/2006/relationships"/>
</file>

<file path=ppt/slides/_rels/slide12.xml.rels><?xml version="1.0" encoding="UTF-8" standalone="yes"?><Relationships xmlns="http://schemas.openxmlformats.org/package/2006/relationships"/>
</file>

<file path=ppt/slides/_rels/slide13.xml.rels><?xml version="1.0" encoding="UTF-8" standalone="yes"?><Relationships xmlns="http://schemas.openxmlformats.org/package/2006/relationships"/>
</file>

<file path=ppt/slides/_rels/slide14.xml.rels><?xml version="1.0" encoding="UTF-8" standalone="yes"?><Relationships xmlns="http://schemas.openxmlformats.org/package/2006/relationships"/>
</file>

<file path=ppt/slides/_rels/slide15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8229600" cy="457200"/>
          </a:xfrm>
        </p:spPr>
        <p:txBody>
          <a:bodyPr/>
          <a:lstStyle/>
          <a:p>
            <a:r>
              <a:rPr lang="en-US" sz="2800" b="1">
                <a:solidFill>
                  <a:srgbClr val="000000"/>
                </a:solidFill>
              </a:rPr>
              <a:t>Apple FP&amp;A Quarterly Business Review</a:t>
            </a:r>
          </a:p>
        </p:txBody>
      </p:sp>
      <p:sp>
        <p:nvSpPr>
          <p:cNvPr id="3" name="Body"/>
          <p:cNvSpPr/>
          <p:nvPr/>
        </p:nvSpPr>
        <p:spPr>
          <a:xfrm>
            <a:off x="609600" y="900000"/>
            <a:ext cx="7924800" cy="4922520"/>
          </a:xfrm>
        </p:spPr>
        <p:txBody>
          <a:bodyPr wrap="square"/>
          <a:lstStyle/>
          <a:p>
            <a:pPr marL="285750" indent="-171450">
              <a:buChar char="•"/>
              <a:defRPr sz="1700"/>
            </a:pPr>
            <a:r>
              <a:rPr lang="en-US" sz="1700"/>
              <a:t>Current view based on public data and reconstructed forecast model.</a:t>
            </a:r>
          </a:p>
          <a:p>
            <a:pPr marL="285750" indent="-171450">
              <a:buChar char="•"/>
              <a:defRPr sz="1700"/>
            </a:pPr>
            <a:r>
              <a:rPr lang="en-US" sz="1700"/>
              <a:t>Focus: FY26 Q2 variance, FY27 planning assumptions, and Apple-style business drivers.</a:t>
            </a:r>
          </a:p>
          <a:p>
            <a:pPr marL="285750" indent="-171450">
              <a:buChar char="•"/>
              <a:defRPr sz="1700"/>
            </a:pPr>
            <a:r>
              <a:rPr lang="en-US" sz="1700"/>
              <a:t>This is an independent case study, not an internal Apple document.</a:t>
            </a:r>
          </a:p>
        </p:txBody>
      </p:sp>
      <p:sp>
        <p:nvSpPr>
          <p:cNvPr id="4" name="Footer"/>
          <p:cNvSpPr/>
          <p:nvPr/>
        </p:nvSpPr>
        <p:spPr>
          <a:xfrm>
            <a:off x="609600" y="6360000"/>
            <a:ext cx="7924800" cy="300000"/>
          </a:xfrm>
        </p:spPr>
        <p:txBody>
          <a:bodyPr/>
          <a:lstStyle/>
          <a:p>
            <a:r>
              <a:rPr lang="en-US" sz="900">
                <a:solidFill>
                  <a:srgbClr val="666666"/>
                </a:solidFill>
              </a:rPr>
              <a:t>Prepared by: Mengru Shi | Draft | Independent case study using public information |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8229600" cy="457200"/>
          </a:xfrm>
        </p:spPr>
        <p:txBody>
          <a:bodyPr/>
          <a:lstStyle/>
          <a:p>
            <a:r>
              <a:rPr lang="en-US" sz="2800" b="1">
                <a:solidFill>
                  <a:srgbClr val="000000"/>
                </a:solidFill>
              </a:rPr>
              <a:t>Current View</a:t>
            </a:r>
          </a:p>
        </p:txBody>
      </p:sp>
      <p:sp>
        <p:nvSpPr>
          <p:cNvPr id="3" name="Body"/>
          <p:cNvSpPr/>
          <p:nvPr/>
        </p:nvSpPr>
        <p:spPr>
          <a:xfrm>
            <a:off x="609600" y="900000"/>
            <a:ext cx="7924800" cy="4922520"/>
          </a:xfrm>
        </p:spPr>
        <p:txBody>
          <a:bodyPr wrap="square"/>
          <a:lstStyle/>
          <a:p>
            <a:pPr marL="285750" indent="-171450">
              <a:buChar char="•"/>
              <a:defRPr sz="1700"/>
            </a:pPr>
            <a:r>
              <a:rPr lang="en-US" sz="1700"/>
              <a:t>Revenue exceeded forecast by $7,172M (+6.9%).</a:t>
            </a:r>
          </a:p>
          <a:p>
            <a:pPr marL="285750" indent="-171450">
              <a:buChar char="•"/>
              <a:defRPr sz="1700"/>
            </a:pPr>
            <a:r>
              <a:rPr lang="en-US" sz="1700"/>
              <a:t>Gross margin was 49.3%, +150 bps versus forecast.</a:t>
            </a:r>
          </a:p>
          <a:p>
            <a:pPr marL="285750" indent="-171450">
              <a:buChar char="•"/>
              <a:defRPr sz="1700"/>
            </a:pPr>
            <a:r>
              <a:rPr lang="en-US" sz="1700"/>
              <a:t>Operating margin compressed 271 bps as opex ran above plan.</a:t>
            </a:r>
          </a:p>
        </p:txBody>
      </p:sp>
      <p:sp>
        <p:nvSpPr>
          <p:cNvPr id="4" name="Footer"/>
          <p:cNvSpPr/>
          <p:nvPr/>
        </p:nvSpPr>
        <p:spPr>
          <a:xfrm>
            <a:off x="609600" y="6360000"/>
            <a:ext cx="7924800" cy="300000"/>
          </a:xfrm>
        </p:spPr>
        <p:txBody>
          <a:bodyPr/>
          <a:lstStyle/>
          <a:p>
            <a:r>
              <a:rPr lang="en-US" sz="900">
                <a:solidFill>
                  <a:srgbClr val="666666"/>
                </a:solidFill>
              </a:rPr>
              <a:t>Prepared by: Mengru Shi | Draft | Independent case study using public information |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8229600" cy="457200"/>
          </a:xfrm>
        </p:spPr>
        <p:txBody>
          <a:bodyPr/>
          <a:lstStyle/>
          <a:p>
            <a:r>
              <a:rPr lang="en-US" sz="2800" b="1">
                <a:solidFill>
                  <a:srgbClr val="000000"/>
                </a:solidFill>
              </a:rPr>
              <a:t>Key Changes</a:t>
            </a:r>
          </a:p>
        </p:txBody>
      </p:sp>
      <p:sp>
        <p:nvSpPr>
          <p:cNvPr id="3" name="Body"/>
          <p:cNvSpPr/>
          <p:nvPr/>
        </p:nvSpPr>
        <p:spPr>
          <a:xfrm>
            <a:off x="609600" y="900000"/>
            <a:ext cx="7924800" cy="4922520"/>
          </a:xfrm>
        </p:spPr>
        <p:txBody>
          <a:bodyPr wrap="square"/>
          <a:lstStyle/>
          <a:p>
            <a:pPr marL="285750" indent="-171450">
              <a:buChar char="•"/>
              <a:defRPr sz="1700"/>
            </a:pPr>
            <a:r>
              <a:rPr lang="en-US" sz="1700"/>
              <a:t>Revenue upside supports a review of Services and upgrade-cycle assumptions.</a:t>
            </a:r>
          </a:p>
          <a:p>
            <a:pPr marL="285750" indent="-171450">
              <a:buChar char="•"/>
              <a:defRPr sz="1700"/>
            </a:pPr>
            <a:r>
              <a:rPr lang="en-US" sz="1700"/>
              <a:t>R&amp;D and SG&amp;A growth should be separated from recurring run-rate before FY27 AOP.</a:t>
            </a:r>
          </a:p>
          <a:p>
            <a:pPr marL="285750" indent="-171450">
              <a:buChar char="•"/>
              <a:defRPr sz="1700"/>
            </a:pPr>
            <a:r>
              <a:rPr lang="en-US" sz="1700"/>
              <a:t>Capital return should remain flexible; this is not framed as a cash shortage issue.</a:t>
            </a:r>
          </a:p>
        </p:txBody>
      </p:sp>
      <p:sp>
        <p:nvSpPr>
          <p:cNvPr id="4" name="Footer"/>
          <p:cNvSpPr/>
          <p:nvPr/>
        </p:nvSpPr>
        <p:spPr>
          <a:xfrm>
            <a:off x="609600" y="6360000"/>
            <a:ext cx="7924800" cy="300000"/>
          </a:xfrm>
        </p:spPr>
        <p:txBody>
          <a:bodyPr/>
          <a:lstStyle/>
          <a:p>
            <a:r>
              <a:rPr lang="en-US" sz="900">
                <a:solidFill>
                  <a:srgbClr val="666666"/>
                </a:solidFill>
              </a:rPr>
              <a:t>Prepared by: Mengru Shi | Draft | Independent case study using public information |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8229600" cy="457200"/>
          </a:xfrm>
        </p:spPr>
        <p:txBody>
          <a:bodyPr/>
          <a:lstStyle/>
          <a:p>
            <a:r>
              <a:rPr lang="en-US" sz="2800" b="1">
                <a:solidFill>
                  <a:srgbClr val="000000"/>
                </a:solidFill>
              </a:rPr>
              <a:t>Business Driver Tree</a:t>
            </a:r>
          </a:p>
        </p:txBody>
      </p:sp>
      <p:sp>
        <p:nvSpPr>
          <p:cNvPr id="3" name="Body"/>
          <p:cNvSpPr/>
          <p:nvPr/>
        </p:nvSpPr>
        <p:spPr>
          <a:xfrm>
            <a:off x="609600" y="900000"/>
            <a:ext cx="7924800" cy="4922520"/>
          </a:xfrm>
        </p:spPr>
        <p:txBody>
          <a:bodyPr wrap="square"/>
          <a:lstStyle/>
          <a:p>
            <a:pPr marL="285750" indent="-171450">
              <a:buChar char="•"/>
              <a:defRPr sz="1700"/>
            </a:pPr>
            <a:r>
              <a:rPr lang="en-US" sz="1700"/>
              <a:t>Installed base -&gt; upgrade rate -&gt; iPhone revenue.</a:t>
            </a:r>
          </a:p>
          <a:p>
            <a:pPr marL="285750" indent="-171450">
              <a:buChar char="•"/>
              <a:defRPr sz="1700"/>
            </a:pPr>
            <a:r>
              <a:rPr lang="en-US" sz="1700"/>
              <a:t>Installed base -&gt; Services attachment -&gt; Services revenue.</a:t>
            </a:r>
          </a:p>
          <a:p>
            <a:pPr marL="285750" indent="-171450">
              <a:buChar char="•"/>
              <a:defRPr sz="1700"/>
            </a:pPr>
            <a:r>
              <a:rPr lang="en-US" sz="1700"/>
              <a:t>Services mix -&gt; gross margin -&gt; operating income -&gt; EPS.</a:t>
            </a:r>
          </a:p>
        </p:txBody>
      </p:sp>
      <p:sp>
        <p:nvSpPr>
          <p:cNvPr id="4" name="Footer"/>
          <p:cNvSpPr/>
          <p:nvPr/>
        </p:nvSpPr>
        <p:spPr>
          <a:xfrm>
            <a:off x="609600" y="6360000"/>
            <a:ext cx="7924800" cy="300000"/>
          </a:xfrm>
        </p:spPr>
        <p:txBody>
          <a:bodyPr/>
          <a:lstStyle/>
          <a:p>
            <a:r>
              <a:rPr lang="en-US" sz="900">
                <a:solidFill>
                  <a:srgbClr val="666666"/>
                </a:solidFill>
              </a:rPr>
              <a:t>Prepared by: Mengru Shi | Draft | Independent case study using public information |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8229600" cy="457200"/>
          </a:xfrm>
        </p:spPr>
        <p:txBody>
          <a:bodyPr/>
          <a:lstStyle/>
          <a:p>
            <a:r>
              <a:rPr lang="en-US" sz="2800" b="1">
                <a:solidFill>
                  <a:srgbClr val="000000"/>
                </a:solidFill>
              </a:rPr>
              <a:t>Revenue Bridge</a:t>
            </a:r>
          </a:p>
        </p:txBody>
      </p:sp>
      <p:sp>
        <p:nvSpPr>
          <p:cNvPr id="3" name="Body"/>
          <p:cNvSpPr/>
          <p:nvPr/>
        </p:nvSpPr>
        <p:spPr>
          <a:xfrm>
            <a:off x="609600" y="900000"/>
            <a:ext cx="7924800" cy="4922520"/>
          </a:xfrm>
        </p:spPr>
        <p:txBody>
          <a:bodyPr wrap="square"/>
          <a:lstStyle/>
          <a:p>
            <a:pPr marL="285750" indent="-171450">
              <a:buChar char="•"/>
              <a:defRPr sz="1700"/>
            </a:pPr>
            <a:r>
              <a:rPr lang="en-US" sz="1700"/>
              <a:t>FY26 Q2 revenue variance: $7,172M.</a:t>
            </a:r>
          </a:p>
          <a:p>
            <a:pPr marL="285750" indent="-171450">
              <a:buChar char="•"/>
              <a:defRPr sz="1700"/>
            </a:pPr>
            <a:r>
              <a:rPr lang="en-US" sz="1700"/>
              <a:t>iPhone variance: $3,534M.</a:t>
            </a:r>
          </a:p>
          <a:p>
            <a:pPr marL="285750" indent="-171450">
              <a:buChar char="•"/>
              <a:defRPr sz="1700"/>
            </a:pPr>
            <a:r>
              <a:rPr lang="en-US" sz="1700"/>
              <a:t>Services variance: $2,007M.</a:t>
            </a:r>
          </a:p>
          <a:p>
            <a:pPr marL="285750" indent="-171450">
              <a:buChar char="•"/>
              <a:defRPr sz="1700"/>
            </a:pPr>
            <a:r>
              <a:rPr lang="en-US" sz="1700"/>
              <a:t>Driver split should be reviewed by Units / ASP / FX / Mix.</a:t>
            </a:r>
          </a:p>
        </p:txBody>
      </p:sp>
      <p:sp>
        <p:nvSpPr>
          <p:cNvPr id="4" name="Footer"/>
          <p:cNvSpPr/>
          <p:nvPr/>
        </p:nvSpPr>
        <p:spPr>
          <a:xfrm>
            <a:off x="609600" y="6360000"/>
            <a:ext cx="7924800" cy="300000"/>
          </a:xfrm>
        </p:spPr>
        <p:txBody>
          <a:bodyPr/>
          <a:lstStyle/>
          <a:p>
            <a:r>
              <a:rPr lang="en-US" sz="900">
                <a:solidFill>
                  <a:srgbClr val="666666"/>
                </a:solidFill>
              </a:rPr>
              <a:t>Prepared by: Mengru Shi | Draft | Independent case study using public information |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8229600" cy="457200"/>
          </a:xfrm>
        </p:spPr>
        <p:txBody>
          <a:bodyPr/>
          <a:lstStyle/>
          <a:p>
            <a:r>
              <a:rPr lang="en-US" sz="2800" b="1">
                <a:solidFill>
                  <a:srgbClr val="000000"/>
                </a:solidFill>
              </a:rPr>
              <a:t>Services Mix</a:t>
            </a:r>
          </a:p>
        </p:txBody>
      </p:sp>
      <p:sp>
        <p:nvSpPr>
          <p:cNvPr id="3" name="Body"/>
          <p:cNvSpPr/>
          <p:nvPr/>
        </p:nvSpPr>
        <p:spPr>
          <a:xfrm>
            <a:off x="609600" y="900000"/>
            <a:ext cx="7924800" cy="4922520"/>
          </a:xfrm>
        </p:spPr>
        <p:txBody>
          <a:bodyPr wrap="square"/>
          <a:lstStyle/>
          <a:p>
            <a:pPr marL="285750" indent="-171450">
              <a:buChar char="•"/>
              <a:defRPr sz="1700"/>
            </a:pPr>
            <a:r>
              <a:rPr lang="en-US" sz="1700"/>
              <a:t>Services Q1 forecast base: $29.1B for FY26 Q2.</a:t>
            </a:r>
          </a:p>
          <a:p>
            <a:pPr marL="285750" indent="-171450">
              <a:buChar char="•"/>
              <a:defRPr sz="1700"/>
            </a:pPr>
            <a:r>
              <a:rPr lang="en-US" sz="1700"/>
              <a:t>Stored Services variance: $2,007M.</a:t>
            </a:r>
          </a:p>
          <a:p>
            <a:pPr marL="285750" indent="-171450">
              <a:buChar char="•"/>
              <a:defRPr sz="1700"/>
            </a:pPr>
            <a:r>
              <a:rPr lang="en-US" sz="1700"/>
              <a:t>Planning point: increase FY27 Services case if attachment remains above plan after Q3.</a:t>
            </a:r>
          </a:p>
        </p:txBody>
      </p:sp>
      <p:sp>
        <p:nvSpPr>
          <p:cNvPr id="4" name="Footer"/>
          <p:cNvSpPr/>
          <p:nvPr/>
        </p:nvSpPr>
        <p:spPr>
          <a:xfrm>
            <a:off x="609600" y="6360000"/>
            <a:ext cx="7924800" cy="300000"/>
          </a:xfrm>
        </p:spPr>
        <p:txBody>
          <a:bodyPr/>
          <a:lstStyle/>
          <a:p>
            <a:r>
              <a:rPr lang="en-US" sz="900">
                <a:solidFill>
                  <a:srgbClr val="666666"/>
                </a:solidFill>
              </a:rPr>
              <a:t>Prepared by: Mengru Shi | Draft | Independent case study using public information |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8229600" cy="457200"/>
          </a:xfrm>
        </p:spPr>
        <p:txBody>
          <a:bodyPr/>
          <a:lstStyle/>
          <a:p>
            <a:r>
              <a:rPr lang="en-US" sz="2800" b="1">
                <a:solidFill>
                  <a:srgbClr val="000000"/>
                </a:solidFill>
              </a:rPr>
              <a:t>Gross Margin</a:t>
            </a:r>
          </a:p>
        </p:txBody>
      </p:sp>
      <p:sp>
        <p:nvSpPr>
          <p:cNvPr id="3" name="Body"/>
          <p:cNvSpPr/>
          <p:nvPr/>
        </p:nvSpPr>
        <p:spPr>
          <a:xfrm>
            <a:off x="609600" y="900000"/>
            <a:ext cx="7924800" cy="4922520"/>
          </a:xfrm>
        </p:spPr>
        <p:txBody>
          <a:bodyPr wrap="square"/>
          <a:lstStyle/>
          <a:p>
            <a:pPr marL="285750" indent="-171450">
              <a:buChar char="•"/>
              <a:defRPr sz="1700"/>
            </a:pPr>
            <a:r>
              <a:rPr lang="en-US" sz="1700"/>
              <a:t>Gross margin variance: +150 bps.</a:t>
            </a:r>
          </a:p>
          <a:p>
            <a:pPr marL="285750" indent="-171450">
              <a:buChar char="•"/>
              <a:defRPr sz="1700"/>
            </a:pPr>
            <a:r>
              <a:rPr lang="en-US" sz="1700"/>
              <a:t>Services mix remains the key margin support.</a:t>
            </a:r>
          </a:p>
          <a:p>
            <a:pPr marL="285750" indent="-171450">
              <a:buChar char="•"/>
              <a:defRPr sz="1700"/>
            </a:pPr>
            <a:r>
              <a:rPr lang="en-US" sz="1700"/>
              <a:t>Apple Intelligence investment case should include a gross margin guardrail.</a:t>
            </a:r>
          </a:p>
        </p:txBody>
      </p:sp>
      <p:sp>
        <p:nvSpPr>
          <p:cNvPr id="4" name="Footer"/>
          <p:cNvSpPr/>
          <p:nvPr/>
        </p:nvSpPr>
        <p:spPr>
          <a:xfrm>
            <a:off x="609600" y="6360000"/>
            <a:ext cx="7924800" cy="300000"/>
          </a:xfrm>
        </p:spPr>
        <p:txBody>
          <a:bodyPr/>
          <a:lstStyle/>
          <a:p>
            <a:r>
              <a:rPr lang="en-US" sz="900">
                <a:solidFill>
                  <a:srgbClr val="666666"/>
                </a:solidFill>
              </a:rPr>
              <a:t>Prepared by: Mengru Shi | Draft | Independent case study using public information |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8229600" cy="457200"/>
          </a:xfrm>
        </p:spPr>
        <p:txBody>
          <a:bodyPr/>
          <a:lstStyle/>
          <a:p>
            <a:r>
              <a:rPr lang="en-US" sz="2800" b="1">
                <a:solidFill>
                  <a:srgbClr val="000000"/>
                </a:solidFill>
              </a:rPr>
              <a:t>Operating Expense</a:t>
            </a:r>
          </a:p>
        </p:txBody>
      </p:sp>
      <p:sp>
        <p:nvSpPr>
          <p:cNvPr id="3" name="Body"/>
          <p:cNvSpPr/>
          <p:nvPr/>
        </p:nvSpPr>
        <p:spPr>
          <a:xfrm>
            <a:off x="609600" y="900000"/>
            <a:ext cx="7924800" cy="4922520"/>
          </a:xfrm>
        </p:spPr>
        <p:txBody>
          <a:bodyPr wrap="square"/>
          <a:lstStyle/>
          <a:p>
            <a:pPr marL="285750" indent="-171450">
              <a:buChar char="•"/>
              <a:defRPr sz="1700"/>
            </a:pPr>
            <a:r>
              <a:rPr lang="en-US" sz="1700"/>
              <a:t>R&amp;D was +45.0% above plan.</a:t>
            </a:r>
          </a:p>
          <a:p>
            <a:pPr marL="285750" indent="-171450">
              <a:buChar char="•"/>
              <a:defRPr sz="1700"/>
            </a:pPr>
            <a:r>
              <a:rPr lang="en-US" sz="1700"/>
              <a:t>SG&amp;A was +37.9% above plan.</a:t>
            </a:r>
          </a:p>
          <a:p>
            <a:pPr marL="285750" indent="-171450">
              <a:buChar char="•"/>
              <a:defRPr sz="1700"/>
            </a:pPr>
            <a:r>
              <a:rPr lang="en-US" sz="1700"/>
              <a:t>Separate AI investment, launch timing, and recurring opex in the FY27 planning case.</a:t>
            </a:r>
          </a:p>
        </p:txBody>
      </p:sp>
      <p:sp>
        <p:nvSpPr>
          <p:cNvPr id="4" name="Footer"/>
          <p:cNvSpPr/>
          <p:nvPr/>
        </p:nvSpPr>
        <p:spPr>
          <a:xfrm>
            <a:off x="609600" y="6360000"/>
            <a:ext cx="7924800" cy="300000"/>
          </a:xfrm>
        </p:spPr>
        <p:txBody>
          <a:bodyPr/>
          <a:lstStyle/>
          <a:p>
            <a:r>
              <a:rPr lang="en-US" sz="900">
                <a:solidFill>
                  <a:srgbClr val="666666"/>
                </a:solidFill>
              </a:rPr>
              <a:t>Prepared by: Mengru Shi | Draft | Independent case study using public information |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8229600" cy="457200"/>
          </a:xfrm>
        </p:spPr>
        <p:txBody>
          <a:bodyPr/>
          <a:lstStyle/>
          <a:p>
            <a:r>
              <a:rPr lang="en-US" sz="2800" b="1">
                <a:solidFill>
                  <a:srgbClr val="000000"/>
                </a:solidFill>
              </a:rPr>
              <a:t>Forecast Accuracy</a:t>
            </a:r>
          </a:p>
        </p:txBody>
      </p:sp>
      <p:sp>
        <p:nvSpPr>
          <p:cNvPr id="3" name="Body"/>
          <p:cNvSpPr/>
          <p:nvPr/>
        </p:nvSpPr>
        <p:spPr>
          <a:xfrm>
            <a:off x="609600" y="900000"/>
            <a:ext cx="7924800" cy="4922520"/>
          </a:xfrm>
        </p:spPr>
        <p:txBody>
          <a:bodyPr wrap="square"/>
          <a:lstStyle/>
          <a:p>
            <a:pPr marL="285750" indent="-171450">
              <a:buChar char="•"/>
              <a:defRPr sz="1700"/>
            </a:pPr>
            <a:r>
              <a:rPr lang="en-US" sz="1700"/>
              <a:t>Revenue MAPE: 7.5%.</a:t>
            </a:r>
          </a:p>
          <a:p>
            <a:pPr marL="285750" indent="-171450">
              <a:buChar char="•"/>
              <a:defRPr sz="1700"/>
            </a:pPr>
            <a:r>
              <a:rPr lang="en-US" sz="1700"/>
              <a:t>Forecast bias: +7.5%.</a:t>
            </a:r>
          </a:p>
          <a:p>
            <a:pPr marL="285750" indent="-171450">
              <a:buChar char="•"/>
              <a:defRPr sz="1700"/>
            </a:pPr>
            <a:r>
              <a:rPr lang="en-US" sz="1700"/>
              <a:t>Add driver-level forecast error: Units, ASP, Services attachment, FX, and mix.</a:t>
            </a:r>
          </a:p>
        </p:txBody>
      </p:sp>
      <p:sp>
        <p:nvSpPr>
          <p:cNvPr id="4" name="Footer"/>
          <p:cNvSpPr/>
          <p:nvPr/>
        </p:nvSpPr>
        <p:spPr>
          <a:xfrm>
            <a:off x="609600" y="6360000"/>
            <a:ext cx="7924800" cy="300000"/>
          </a:xfrm>
        </p:spPr>
        <p:txBody>
          <a:bodyPr/>
          <a:lstStyle/>
          <a:p>
            <a:r>
              <a:rPr lang="en-US" sz="900">
                <a:solidFill>
                  <a:srgbClr val="666666"/>
                </a:solidFill>
              </a:rPr>
              <a:t>Prepared by: Mengru Shi | Draft | Independent case study using public information |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8229600" cy="457200"/>
          </a:xfrm>
        </p:spPr>
        <p:txBody>
          <a:bodyPr/>
          <a:lstStyle/>
          <a:p>
            <a:r>
              <a:rPr lang="en-US" sz="2800" b="1">
                <a:solidFill>
                  <a:srgbClr val="000000"/>
                </a:solidFill>
              </a:rPr>
              <a:t>Capital Allocation</a:t>
            </a:r>
          </a:p>
        </p:txBody>
      </p:sp>
      <p:sp>
        <p:nvSpPr>
          <p:cNvPr id="3" name="Body"/>
          <p:cNvSpPr/>
          <p:nvPr/>
        </p:nvSpPr>
        <p:spPr>
          <a:xfrm>
            <a:off x="609600" y="900000"/>
            <a:ext cx="7924800" cy="4922520"/>
          </a:xfrm>
        </p:spPr>
        <p:txBody>
          <a:bodyPr wrap="square"/>
          <a:lstStyle/>
          <a:p>
            <a:pPr marL="285750" indent="-171450">
              <a:buChar char="•"/>
              <a:defRPr sz="1700"/>
            </a:pPr>
            <a:r>
              <a:rPr lang="en-US" sz="1700"/>
              <a:t>Maintain capital return flexibility.</a:t>
            </a:r>
          </a:p>
          <a:p>
            <a:pPr marL="285750" indent="-171450">
              <a:buChar char="•"/>
              <a:defRPr sz="1700"/>
            </a:pPr>
            <a:r>
              <a:rPr lang="en-US" sz="1700"/>
              <a:t>Do not make buyback reduction the primary recommendation.</a:t>
            </a:r>
          </a:p>
          <a:p>
            <a:pPr marL="285750" indent="-171450">
              <a:buChar char="•"/>
              <a:defRPr sz="1700"/>
            </a:pPr>
            <a:r>
              <a:rPr lang="en-US" sz="1700"/>
              <a:t>Use scenarios to quantify investment capacity and EPS sensitivity.</a:t>
            </a:r>
          </a:p>
        </p:txBody>
      </p:sp>
      <p:sp>
        <p:nvSpPr>
          <p:cNvPr id="4" name="Footer"/>
          <p:cNvSpPr/>
          <p:nvPr/>
        </p:nvSpPr>
        <p:spPr>
          <a:xfrm>
            <a:off x="609600" y="6360000"/>
            <a:ext cx="7924800" cy="300000"/>
          </a:xfrm>
        </p:spPr>
        <p:txBody>
          <a:bodyPr/>
          <a:lstStyle/>
          <a:p>
            <a:r>
              <a:rPr lang="en-US" sz="900">
                <a:solidFill>
                  <a:srgbClr val="666666"/>
                </a:solidFill>
              </a:rPr>
              <a:t>Prepared by: Mengru Shi | Draft | Independent case study using public information |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8229600" cy="457200"/>
          </a:xfrm>
        </p:spPr>
        <p:txBody>
          <a:bodyPr/>
          <a:lstStyle/>
          <a:p>
            <a:r>
              <a:rPr lang="en-US" sz="2800" b="1">
                <a:solidFill>
                  <a:srgbClr val="000000"/>
                </a:solidFill>
              </a:rPr>
              <a:t>Apple Intelligence Case</a:t>
            </a:r>
          </a:p>
        </p:txBody>
      </p:sp>
      <p:sp>
        <p:nvSpPr>
          <p:cNvPr id="3" name="Body"/>
          <p:cNvSpPr/>
          <p:nvPr/>
        </p:nvSpPr>
        <p:spPr>
          <a:xfrm>
            <a:off x="609600" y="900000"/>
            <a:ext cx="7924800" cy="4922520"/>
          </a:xfrm>
        </p:spPr>
        <p:txBody>
          <a:bodyPr wrap="square"/>
          <a:lstStyle/>
          <a:p>
            <a:pPr marL="285750" indent="-171450">
              <a:buChar char="•"/>
              <a:defRPr sz="1700"/>
            </a:pPr>
            <a:r>
              <a:rPr lang="en-US" sz="1700"/>
              <a:t>Add AI infrastructure / R&amp;D uplift as a discrete driver.</a:t>
            </a:r>
          </a:p>
          <a:p>
            <a:pPr marL="285750" indent="-171450">
              <a:buChar char="•"/>
              <a:defRPr sz="1700"/>
            </a:pPr>
            <a:r>
              <a:rPr lang="en-US" sz="1700"/>
              <a:t>Test Services attachment and upgrade-rate upside.</a:t>
            </a:r>
          </a:p>
          <a:p>
            <a:pPr marL="285750" indent="-171450">
              <a:buChar char="•"/>
              <a:defRPr sz="1700"/>
            </a:pPr>
            <a:r>
              <a:rPr lang="en-US" sz="1700"/>
              <a:t>Measure margin pressure and offset from Services mix.</a:t>
            </a:r>
          </a:p>
        </p:txBody>
      </p:sp>
      <p:sp>
        <p:nvSpPr>
          <p:cNvPr id="4" name="Footer"/>
          <p:cNvSpPr/>
          <p:nvPr/>
        </p:nvSpPr>
        <p:spPr>
          <a:xfrm>
            <a:off x="609600" y="6360000"/>
            <a:ext cx="7924800" cy="300000"/>
          </a:xfrm>
        </p:spPr>
        <p:txBody>
          <a:bodyPr/>
          <a:lstStyle/>
          <a:p>
            <a:r>
              <a:rPr lang="en-US" sz="900">
                <a:solidFill>
                  <a:srgbClr val="666666"/>
                </a:solidFill>
              </a:rPr>
              <a:t>Prepared by: Mengru Shi | Draft | Independent case study using public information |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8229600" cy="457200"/>
          </a:xfrm>
        </p:spPr>
        <p:txBody>
          <a:bodyPr/>
          <a:lstStyle/>
          <a:p>
            <a:r>
              <a:rPr lang="en-US" sz="2800" b="1">
                <a:solidFill>
                  <a:srgbClr val="000000"/>
                </a:solidFill>
              </a:rPr>
              <a:t>Risks</a:t>
            </a:r>
          </a:p>
        </p:txBody>
      </p:sp>
      <p:sp>
        <p:nvSpPr>
          <p:cNvPr id="3" name="Body"/>
          <p:cNvSpPr/>
          <p:nvPr/>
        </p:nvSpPr>
        <p:spPr>
          <a:xfrm>
            <a:off x="609600" y="900000"/>
            <a:ext cx="7924800" cy="4922520"/>
          </a:xfrm>
        </p:spPr>
        <p:txBody>
          <a:bodyPr wrap="square"/>
          <a:lstStyle/>
          <a:p>
            <a:pPr marL="285750" indent="-171450">
              <a:buChar char="•"/>
              <a:defRPr sz="1700"/>
            </a:pPr>
            <a:r>
              <a:rPr lang="en-US" sz="1700"/>
              <a:t>iPhone upgrade timing.</a:t>
            </a:r>
          </a:p>
          <a:p>
            <a:pPr marL="285750" indent="-171450">
              <a:buChar char="•"/>
              <a:defRPr sz="1700"/>
            </a:pPr>
            <a:r>
              <a:rPr lang="en-US" sz="1700"/>
              <a:t>Services monetization pace.</a:t>
            </a:r>
          </a:p>
          <a:p>
            <a:pPr marL="285750" indent="-171450">
              <a:buChar char="•"/>
              <a:defRPr sz="1700"/>
            </a:pPr>
            <a:r>
              <a:rPr lang="en-US" sz="1700"/>
              <a:t>China demand and FX.</a:t>
            </a:r>
          </a:p>
          <a:p>
            <a:pPr marL="285750" indent="-171450">
              <a:buChar char="•"/>
              <a:defRPr sz="1700"/>
            </a:pPr>
            <a:r>
              <a:rPr lang="en-US" sz="1700"/>
              <a:t>AI infrastructure cost and gross margin pressure.</a:t>
            </a:r>
          </a:p>
        </p:txBody>
      </p:sp>
      <p:sp>
        <p:nvSpPr>
          <p:cNvPr id="4" name="Footer"/>
          <p:cNvSpPr/>
          <p:nvPr/>
        </p:nvSpPr>
        <p:spPr>
          <a:xfrm>
            <a:off x="609600" y="6360000"/>
            <a:ext cx="7924800" cy="300000"/>
          </a:xfrm>
        </p:spPr>
        <p:txBody>
          <a:bodyPr/>
          <a:lstStyle/>
          <a:p>
            <a:r>
              <a:rPr lang="en-US" sz="900">
                <a:solidFill>
                  <a:srgbClr val="666666"/>
                </a:solidFill>
              </a:rPr>
              <a:t>Prepared by: Mengru Shi | Draft | Independent case study using public information |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8229600" cy="457200"/>
          </a:xfrm>
        </p:spPr>
        <p:txBody>
          <a:bodyPr/>
          <a:lstStyle/>
          <a:p>
            <a:r>
              <a:rPr lang="en-US" sz="2800" b="1">
                <a:solidFill>
                  <a:srgbClr val="000000"/>
                </a:solidFill>
              </a:rPr>
              <a:t>Planning Recommendations</a:t>
            </a:r>
          </a:p>
        </p:txBody>
      </p:sp>
      <p:sp>
        <p:nvSpPr>
          <p:cNvPr id="3" name="Body"/>
          <p:cNvSpPr/>
          <p:nvPr/>
        </p:nvSpPr>
        <p:spPr>
          <a:xfrm>
            <a:off x="609600" y="900000"/>
            <a:ext cx="7924800" cy="4922520"/>
          </a:xfrm>
        </p:spPr>
        <p:txBody>
          <a:bodyPr wrap="square"/>
          <a:lstStyle/>
          <a:p>
            <a:pPr marL="285750" indent="-171450">
              <a:buChar char="•"/>
              <a:defRPr sz="1700"/>
            </a:pPr>
            <a:r>
              <a:rPr lang="en-US" sz="1700"/>
              <a:t>Add FY27 Apple Intelligence investment case.</a:t>
            </a:r>
          </a:p>
          <a:p>
            <a:pPr marL="285750" indent="-171450">
              <a:buChar char="•"/>
              <a:defRPr sz="1700"/>
            </a:pPr>
            <a:r>
              <a:rPr lang="en-US" sz="1700"/>
              <a:t>Raise Services planning case only after Q3 confirmation.</a:t>
            </a:r>
          </a:p>
          <a:p>
            <a:pPr marL="285750" indent="-171450">
              <a:buChar char="•"/>
              <a:defRPr sz="1700"/>
            </a:pPr>
            <a:r>
              <a:rPr lang="en-US" sz="1700"/>
              <a:t>Track installed base, upgrade rate, Services attachment, and Services mix on page 1.</a:t>
            </a:r>
          </a:p>
        </p:txBody>
      </p:sp>
      <p:sp>
        <p:nvSpPr>
          <p:cNvPr id="4" name="Footer"/>
          <p:cNvSpPr/>
          <p:nvPr/>
        </p:nvSpPr>
        <p:spPr>
          <a:xfrm>
            <a:off x="609600" y="6360000"/>
            <a:ext cx="7924800" cy="300000"/>
          </a:xfrm>
        </p:spPr>
        <p:txBody>
          <a:bodyPr/>
          <a:lstStyle/>
          <a:p>
            <a:r>
              <a:rPr lang="en-US" sz="900">
                <a:solidFill>
                  <a:srgbClr val="666666"/>
                </a:solidFill>
              </a:rPr>
              <a:t>Prepared by: Mengru Shi | Draft | Independent case study using public information |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8229600" cy="457200"/>
          </a:xfrm>
        </p:spPr>
        <p:txBody>
          <a:bodyPr/>
          <a:lstStyle/>
          <a:p>
            <a:r>
              <a:rPr lang="en-US" sz="2800" b="1">
                <a:solidFill>
                  <a:srgbClr val="000000"/>
                </a:solidFill>
              </a:rPr>
              <a:t>Open Items</a:t>
            </a:r>
          </a:p>
        </p:txBody>
      </p:sp>
      <p:sp>
        <p:nvSpPr>
          <p:cNvPr id="3" name="Body"/>
          <p:cNvSpPr/>
          <p:nvPr/>
        </p:nvSpPr>
        <p:spPr>
          <a:xfrm>
            <a:off x="609600" y="900000"/>
            <a:ext cx="7924800" cy="4922520"/>
          </a:xfrm>
        </p:spPr>
        <p:txBody>
          <a:bodyPr wrap="square"/>
          <a:lstStyle/>
          <a:p>
            <a:pPr marL="285750" indent="-171450">
              <a:buChar char="•"/>
              <a:defRPr sz="1700"/>
            </a:pPr>
            <a:r>
              <a:rPr lang="en-US" sz="1700"/>
              <a:t>Public data does not disclose AI adoption or Services attachment.</a:t>
            </a:r>
          </a:p>
          <a:p>
            <a:pPr marL="285750" indent="-171450">
              <a:buChar char="•"/>
              <a:defRPr sz="1700"/>
            </a:pPr>
            <a:r>
              <a:rPr lang="en-US" sz="1700"/>
              <a:t>Quarterly segment actuals are implied, not directly reported.</a:t>
            </a:r>
          </a:p>
          <a:p>
            <a:pPr marL="285750" indent="-171450">
              <a:buChar char="•"/>
              <a:defRPr sz="1700"/>
            </a:pPr>
            <a:r>
              <a:rPr lang="en-US" sz="1700"/>
              <a:t>Working capital days require seasonal calibration.</a:t>
            </a:r>
          </a:p>
        </p:txBody>
      </p:sp>
      <p:sp>
        <p:nvSpPr>
          <p:cNvPr id="4" name="Footer"/>
          <p:cNvSpPr/>
          <p:nvPr/>
        </p:nvSpPr>
        <p:spPr>
          <a:xfrm>
            <a:off x="609600" y="6360000"/>
            <a:ext cx="7924800" cy="300000"/>
          </a:xfrm>
        </p:spPr>
        <p:txBody>
          <a:bodyPr/>
          <a:lstStyle/>
          <a:p>
            <a:r>
              <a:rPr lang="en-US" sz="900">
                <a:solidFill>
                  <a:srgbClr val="666666"/>
                </a:solidFill>
              </a:rPr>
              <a:t>Prepared by: Mengru Shi | Draft | Independent case study using public information | 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8229600" cy="457200"/>
          </a:xfrm>
        </p:spPr>
        <p:txBody>
          <a:bodyPr/>
          <a:lstStyle/>
          <a:p>
            <a:r>
              <a:rPr lang="en-US" sz="2800" b="1">
                <a:solidFill>
                  <a:srgbClr val="000000"/>
                </a:solidFill>
              </a:rPr>
              <a:t>Talking Points</a:t>
            </a:r>
          </a:p>
        </p:txBody>
      </p:sp>
      <p:sp>
        <p:nvSpPr>
          <p:cNvPr id="3" name="Body"/>
          <p:cNvSpPr/>
          <p:nvPr/>
        </p:nvSpPr>
        <p:spPr>
          <a:xfrm>
            <a:off x="609600" y="900000"/>
            <a:ext cx="7924800" cy="4922520"/>
          </a:xfrm>
        </p:spPr>
        <p:txBody>
          <a:bodyPr wrap="square"/>
          <a:lstStyle/>
          <a:p>
            <a:pPr marL="285750" indent="-171450">
              <a:buChar char="•"/>
              <a:defRPr sz="1700"/>
            </a:pPr>
            <a:r>
              <a:rPr lang="en-US" sz="1700"/>
              <a:t>This portfolio proves data sourcing, model logic, dashboarding, and executive finance communication.</a:t>
            </a:r>
          </a:p>
          <a:p>
            <a:pPr marL="285750" indent="-171450">
              <a:buChar char="•"/>
              <a:defRPr sz="1700"/>
            </a:pPr>
            <a:r>
              <a:rPr lang="en-US" sz="1700"/>
              <a:t>Next improvement: upgrade the model from financial drivers to Apple business drivers.</a:t>
            </a:r>
          </a:p>
          <a:p>
            <a:pPr marL="285750" indent="-171450">
              <a:buChar char="•"/>
              <a:defRPr sz="1700"/>
            </a:pPr>
            <a:r>
              <a:rPr lang="en-US" sz="1700"/>
              <a:t>Use the HTML dashboard as an interactive mirror, not the only decision material.</a:t>
            </a:r>
          </a:p>
        </p:txBody>
      </p:sp>
      <p:sp>
        <p:nvSpPr>
          <p:cNvPr id="4" name="Footer"/>
          <p:cNvSpPr/>
          <p:nvPr/>
        </p:nvSpPr>
        <p:spPr>
          <a:xfrm>
            <a:off x="609600" y="6360000"/>
            <a:ext cx="7924800" cy="300000"/>
          </a:xfrm>
        </p:spPr>
        <p:txBody>
          <a:bodyPr/>
          <a:lstStyle/>
          <a:p>
            <a:r>
              <a:rPr lang="en-US" sz="900">
                <a:solidFill>
                  <a:srgbClr val="666666"/>
                </a:solidFill>
              </a:rPr>
              <a:t>Prepared by: Mengru Shi | Draft | Independent case study using public information | Slide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E79"/>
      </a:dk2>
      <a:lt2>
        <a:srgbClr val="F2F2F2"/>
      </a:lt2>
      <a:accent1>
        <a:srgbClr val="1F4E79"/>
      </a:accent1>
      <a:accent2>
        <a:srgbClr val="666666"/>
      </a:accent2>
      <a:accent3>
        <a:srgbClr val="A6A6A6"/>
      </a:accent3>
      <a:accent4>
        <a:srgbClr val="D9D9D9"/>
      </a:accent4>
      <a:accent5>
        <a:srgbClr val="404040"/>
      </a:accent5>
      <a:accent6>
        <a:srgbClr val="BFBFBF"/>
      </a:accent6>
      <a:hlink>
        <a:srgbClr val="1F4E79"/>
      </a:hlink>
      <a:folHlink>
        <a:srgbClr val="666666"/>
      </a:folHlink>
    </a:clrScheme>
    <a:fontScheme name="Office">
      <a:majorFont>
        <a:latin typeface="Aptos Display"/>
      </a:majorFont>
      <a:minorFont>
        <a:latin typeface="Aptos"/>
      </a:minorFont>
    </a:fontScheme>
    <a:fmtScheme name="Office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(4:3)</PresentationFormat>
  <Slides>15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Apple FP&amp;A Quarterly Business Review</dc:title>
  <dc:creator>Mengru Shi</dc:creator>
  <cp:lastModifiedBy>Mengru Shi</cp:lastModifiedBy>
  <dcterms:created xsi:type="dcterms:W3CDTF">2026-08-05T15:13:11.536834+00:00</dcterms:created>
  <dcterms:modified xsi:type="dcterms:W3CDTF">2026-08-05T15:13:11.536834+00:00</dcterms:modified>
</cp:coreProperties>
</file>